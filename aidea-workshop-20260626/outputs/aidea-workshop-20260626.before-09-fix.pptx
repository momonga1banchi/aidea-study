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50d3505820437d" /><Relationship Type="http://schemas.openxmlformats.org/officeDocument/2006/relationships/extended-properties" Target="/docProps/app.xml" Id="R7a92fd592e484c56" /><Relationship Type="http://schemas.openxmlformats.org/officeDocument/2006/relationships/officeDocument" Target="/ppt/presentation.xml" Id="R003e62dceec84a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25de571d184f26"/>
  </p:sldMasterIdLst>
  <p:notesMasterIdLst>
    <p:notesMasterId xmlns:r="http://schemas.openxmlformats.org/officeDocument/2006/relationships" r:id="Rd950b49a04a54d8d"/>
  </p:notesMasterIdLst>
  <p:sldIdLst>
    <p:sldId xmlns:r="http://schemas.openxmlformats.org/officeDocument/2006/relationships" id="256" r:id="R2c4696d0bcf24508"/>
    <p:sldId xmlns:r="http://schemas.openxmlformats.org/officeDocument/2006/relationships" id="257" r:id="Rab2ddee8670c4682"/>
    <p:sldId xmlns:r="http://schemas.openxmlformats.org/officeDocument/2006/relationships" id="258" r:id="Rdc054ceff8084423"/>
    <p:sldId xmlns:r="http://schemas.openxmlformats.org/officeDocument/2006/relationships" id="259" r:id="R2191e2deefa042a0"/>
    <p:sldId xmlns:r="http://schemas.openxmlformats.org/officeDocument/2006/relationships" id="260" r:id="R69c48ba6c1a145e6"/>
    <p:sldId xmlns:r="http://schemas.openxmlformats.org/officeDocument/2006/relationships" id="261" r:id="Rc1715df72da04606"/>
    <p:sldId xmlns:r="http://schemas.openxmlformats.org/officeDocument/2006/relationships" id="262" r:id="R6fd385ea30664d29"/>
    <p:sldId xmlns:r="http://schemas.openxmlformats.org/officeDocument/2006/relationships" id="263" r:id="Rf99760b0f89d41a3"/>
    <p:sldId xmlns:r="http://schemas.openxmlformats.org/officeDocument/2006/relationships" id="264" r:id="R02b163ddfd004067"/>
    <p:sldId xmlns:r="http://schemas.openxmlformats.org/officeDocument/2006/relationships" id="265" r:id="R2bf293a13c974e41"/>
    <p:sldId xmlns:r="http://schemas.openxmlformats.org/officeDocument/2006/relationships" id="266" r:id="Rebc08778447648dc"/>
    <p:sldId xmlns:r="http://schemas.openxmlformats.org/officeDocument/2006/relationships" id="267" r:id="Rb845d20a7bff4707"/>
    <p:sldId xmlns:r="http://schemas.openxmlformats.org/officeDocument/2006/relationships" id="268" r:id="R1db1bc236b81483f"/>
    <p:sldId xmlns:r="http://schemas.openxmlformats.org/officeDocument/2006/relationships" id="269" r:id="R8518f6165d4140c5"/>
    <p:sldId xmlns:r="http://schemas.openxmlformats.org/officeDocument/2006/relationships" id="270" r:id="R4163ce565d154757"/>
    <p:sldId xmlns:r="http://schemas.openxmlformats.org/officeDocument/2006/relationships" id="271" r:id="Rc4f5f41a4a0b4ab7"/>
    <p:sldId xmlns:r="http://schemas.openxmlformats.org/officeDocument/2006/relationships" id="272" r:id="Rce7d0da1d9d94c23"/>
    <p:sldId xmlns:r="http://schemas.openxmlformats.org/officeDocument/2006/relationships" id="273" r:id="R741b92802feb41d9"/>
    <p:sldId xmlns:r="http://schemas.openxmlformats.org/officeDocument/2006/relationships" id="274" r:id="R0919d4ef293d4c81"/>
    <p:sldId xmlns:r="http://schemas.openxmlformats.org/officeDocument/2006/relationships" id="275" r:id="R5e168f19a11742b9"/>
    <p:sldId xmlns:r="http://schemas.openxmlformats.org/officeDocument/2006/relationships" id="276" r:id="R8718d69663694dd8"/>
    <p:sldId xmlns:r="http://schemas.openxmlformats.org/officeDocument/2006/relationships" id="277" r:id="R07ad104bf8234848"/>
    <p:sldId xmlns:r="http://schemas.openxmlformats.org/officeDocument/2006/relationships" id="278" r:id="R1747a1dff8ae4ed7"/>
    <p:sldId xmlns:r="http://schemas.openxmlformats.org/officeDocument/2006/relationships" id="279" r:id="Ra8a75e1756414ca3"/>
    <p:sldId xmlns:r="http://schemas.openxmlformats.org/officeDocument/2006/relationships" id="280" r:id="R2b5becb2672447cb"/>
    <p:sldId xmlns:r="http://schemas.openxmlformats.org/officeDocument/2006/relationships" id="281" r:id="R3655fb5656ca4aed"/>
    <p:sldId xmlns:r="http://schemas.openxmlformats.org/officeDocument/2006/relationships" id="282" r:id="R5463bf6e11624a16"/>
    <p:sldId xmlns:r="http://schemas.openxmlformats.org/officeDocument/2006/relationships" id="283" r:id="Red7fff6490ac497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edffc157c841e3" /><Relationship Type="http://schemas.openxmlformats.org/officeDocument/2006/relationships/slideMaster" Target="/ppt/slideMasters/slideMaster1.xml" Id="Rea25de571d184f26" /><Relationship Type="http://schemas.openxmlformats.org/officeDocument/2006/relationships/notesMaster" Target="/ppt/notesMasters/notesMaster1.xml" Id="Rd950b49a04a54d8d" /><Relationship Type="http://schemas.openxmlformats.org/officeDocument/2006/relationships/presProps" Target="/ppt/presProps.xml" Id="Rb93480be2fc54ca6" /><Relationship Type="http://schemas.openxmlformats.org/officeDocument/2006/relationships/viewProps" Target="/ppt/viewProps.xml" Id="R91ea718aee3d45b5" /><Relationship Type="http://schemas.openxmlformats.org/officeDocument/2006/relationships/tableStyles" Target="/ppt/tableStyles.xml" Id="Rc11ab9ff78a24ecb" /><Relationship Type="http://schemas.openxmlformats.org/officeDocument/2006/relationships/slide" Target="/ppt/slides/slide1.xml" Id="R2c4696d0bcf24508" /><Relationship Type="http://schemas.openxmlformats.org/officeDocument/2006/relationships/slide" Target="/ppt/slides/slide2.xml" Id="Rab2ddee8670c4682" /><Relationship Type="http://schemas.openxmlformats.org/officeDocument/2006/relationships/slide" Target="/ppt/slides/slide3.xml" Id="Rdc054ceff8084423" /><Relationship Type="http://schemas.openxmlformats.org/officeDocument/2006/relationships/slide" Target="/ppt/slides/slide4.xml" Id="R2191e2deefa042a0" /><Relationship Type="http://schemas.openxmlformats.org/officeDocument/2006/relationships/slide" Target="/ppt/slides/slide5.xml" Id="R69c48ba6c1a145e6" /><Relationship Type="http://schemas.openxmlformats.org/officeDocument/2006/relationships/slide" Target="/ppt/slides/slide6.xml" Id="Rc1715df72da04606" /><Relationship Type="http://schemas.openxmlformats.org/officeDocument/2006/relationships/slide" Target="/ppt/slides/slide7.xml" Id="R6fd385ea30664d29" /><Relationship Type="http://schemas.openxmlformats.org/officeDocument/2006/relationships/slide" Target="/ppt/slides/slide8.xml" Id="Rf99760b0f89d41a3" /><Relationship Type="http://schemas.openxmlformats.org/officeDocument/2006/relationships/slide" Target="/ppt/slides/slide9.xml" Id="R02b163ddfd004067" /><Relationship Type="http://schemas.openxmlformats.org/officeDocument/2006/relationships/slide" Target="/ppt/slides/slide10.xml" Id="R2bf293a13c974e41" /><Relationship Type="http://schemas.openxmlformats.org/officeDocument/2006/relationships/slide" Target="/ppt/slides/slide11.xml" Id="Rebc08778447648dc" /><Relationship Type="http://schemas.openxmlformats.org/officeDocument/2006/relationships/slide" Target="/ppt/slides/slide12.xml" Id="Rb845d20a7bff4707" /><Relationship Type="http://schemas.openxmlformats.org/officeDocument/2006/relationships/slide" Target="/ppt/slides/slide13.xml" Id="R1db1bc236b81483f" /><Relationship Type="http://schemas.openxmlformats.org/officeDocument/2006/relationships/slide" Target="/ppt/slides/slide14.xml" Id="R8518f6165d4140c5" /><Relationship Type="http://schemas.openxmlformats.org/officeDocument/2006/relationships/slide" Target="/ppt/slides/slide15.xml" Id="R4163ce565d154757" /><Relationship Type="http://schemas.openxmlformats.org/officeDocument/2006/relationships/slide" Target="/ppt/slides/slide16.xml" Id="Rc4f5f41a4a0b4ab7" /><Relationship Type="http://schemas.openxmlformats.org/officeDocument/2006/relationships/slide" Target="/ppt/slides/slide17.xml" Id="Rce7d0da1d9d94c23" /><Relationship Type="http://schemas.openxmlformats.org/officeDocument/2006/relationships/slide" Target="/ppt/slides/slide18.xml" Id="R741b92802feb41d9" /><Relationship Type="http://schemas.openxmlformats.org/officeDocument/2006/relationships/slide" Target="/ppt/slides/slide19.xml" Id="R0919d4ef293d4c81" /><Relationship Type="http://schemas.openxmlformats.org/officeDocument/2006/relationships/slide" Target="/ppt/slides/slide20.xml" Id="R5e168f19a11742b9" /><Relationship Type="http://schemas.openxmlformats.org/officeDocument/2006/relationships/slide" Target="/ppt/slides/slide21.xml" Id="R8718d69663694dd8" /><Relationship Type="http://schemas.openxmlformats.org/officeDocument/2006/relationships/slide" Target="/ppt/slides/slide22.xml" Id="R07ad104bf8234848" /><Relationship Type="http://schemas.openxmlformats.org/officeDocument/2006/relationships/slide" Target="/ppt/slides/slide23.xml" Id="R1747a1dff8ae4ed7" /><Relationship Type="http://schemas.openxmlformats.org/officeDocument/2006/relationships/slide" Target="/ppt/slides/slide24.xml" Id="Ra8a75e1756414ca3" /><Relationship Type="http://schemas.openxmlformats.org/officeDocument/2006/relationships/slide" Target="/ppt/slides/slide25.xml" Id="R2b5becb2672447cb" /><Relationship Type="http://schemas.openxmlformats.org/officeDocument/2006/relationships/slide" Target="/ppt/slides/slide26.xml" Id="R3655fb5656ca4aed" /><Relationship Type="http://schemas.openxmlformats.org/officeDocument/2006/relationships/slide" Target="/ppt/slides/slide27.xml" Id="R5463bf6e11624a16" /><Relationship Type="http://schemas.openxmlformats.org/officeDocument/2006/relationships/slide" Target="/ppt/slides/slide28.xml" Id="Red7fff6490ac49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63ab8e650143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973cab428845c4" /><Relationship Type="http://schemas.openxmlformats.org/officeDocument/2006/relationships/notesMaster" Target="/ppt/notesMasters/notesMaster1.xml" Id="R0cd20d63c18f4b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97985991144d4e" /><Relationship Type="http://schemas.openxmlformats.org/officeDocument/2006/relationships/notesMaster" Target="/ppt/notesMasters/notesMaster1.xml" Id="Ra6ff6e79ef394b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26508a3d3c413a" /><Relationship Type="http://schemas.openxmlformats.org/officeDocument/2006/relationships/notesMaster" Target="/ppt/notesMasters/notesMaster1.xml" Id="R5e7b4eac538c44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9d5aa2b46a4eba" /><Relationship Type="http://schemas.openxmlformats.org/officeDocument/2006/relationships/notesMaster" Target="/ppt/notesMasters/notesMaster1.xml" Id="Rfbdeabedb9f14e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68b79a876b4dd1" /><Relationship Type="http://schemas.openxmlformats.org/officeDocument/2006/relationships/notesMaster" Target="/ppt/notesMasters/notesMaster1.xml" Id="R3ca210f228ec40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2069d828134bf0" /><Relationship Type="http://schemas.openxmlformats.org/officeDocument/2006/relationships/notesMaster" Target="/ppt/notesMasters/notesMaster1.xml" Id="R9a4606c0d9c644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d236bb32174656" /><Relationship Type="http://schemas.openxmlformats.org/officeDocument/2006/relationships/notesMaster" Target="/ppt/notesMasters/notesMaster1.xml" Id="R5e963c2022af460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48c19444fc14b76" /><Relationship Type="http://schemas.openxmlformats.org/officeDocument/2006/relationships/notesMaster" Target="/ppt/notesMasters/notesMaster1.xml" Id="Rf7a02a01107d48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137914901284f0c" /><Relationship Type="http://schemas.openxmlformats.org/officeDocument/2006/relationships/notesMaster" Target="/ppt/notesMasters/notesMaster1.xml" Id="Rc75b7a5fb78b408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9b5913cf28644d8" /><Relationship Type="http://schemas.openxmlformats.org/officeDocument/2006/relationships/notesMaster" Target="/ppt/notesMasters/notesMaster1.xml" Id="R90e9f10a29c2477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284696bf3dd488d" /><Relationship Type="http://schemas.openxmlformats.org/officeDocument/2006/relationships/notesMaster" Target="/ppt/notesMasters/notesMaster1.xml" Id="Rd0ea0932b513490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b903f413cb543a7" /><Relationship Type="http://schemas.openxmlformats.org/officeDocument/2006/relationships/notesMaster" Target="/ppt/notesMasters/notesMaster1.xml" Id="R8168c9bf3f2e4da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a5097d3b1db4691" /><Relationship Type="http://schemas.openxmlformats.org/officeDocument/2006/relationships/notesMaster" Target="/ppt/notesMasters/notesMaster1.xml" Id="Ra3205bb2394c49e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4a91c2cafbc4f35" /><Relationship Type="http://schemas.openxmlformats.org/officeDocument/2006/relationships/notesMaster" Target="/ppt/notesMasters/notesMaster1.xml" Id="R700f64d438cc4f6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0fe616f440348aa" /><Relationship Type="http://schemas.openxmlformats.org/officeDocument/2006/relationships/notesMaster" Target="/ppt/notesMasters/notesMaster1.xml" Id="Rf38bbfd3e2914c6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06b0a25cd3e4d21" /><Relationship Type="http://schemas.openxmlformats.org/officeDocument/2006/relationships/notesMaster" Target="/ppt/notesMasters/notesMaster1.xml" Id="R83806a617b3f49a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654e38920314188" /><Relationship Type="http://schemas.openxmlformats.org/officeDocument/2006/relationships/notesMaster" Target="/ppt/notesMasters/notesMaster1.xml" Id="R19cb36e51e614eb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53220b0ff8d4a48" /><Relationship Type="http://schemas.openxmlformats.org/officeDocument/2006/relationships/notesMaster" Target="/ppt/notesMasters/notesMaster1.xml" Id="R1b129ddbd7f84a7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b87dcc86ddb4949" /><Relationship Type="http://schemas.openxmlformats.org/officeDocument/2006/relationships/notesMaster" Target="/ppt/notesMasters/notesMaster1.xml" Id="Ra640df6388b6499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6359aca98be4e92" /><Relationship Type="http://schemas.openxmlformats.org/officeDocument/2006/relationships/notesMaster" Target="/ppt/notesMasters/notesMaster1.xml" Id="R3fe89b3daa94471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0f53763faef4604" /><Relationship Type="http://schemas.openxmlformats.org/officeDocument/2006/relationships/notesMaster" Target="/ppt/notesMasters/notesMaster1.xml" Id="R2563bc8bef7a4ae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1b0f1b3c5f9491f" /><Relationship Type="http://schemas.openxmlformats.org/officeDocument/2006/relationships/notesMaster" Target="/ppt/notesMasters/notesMaster1.xml" Id="Rb9162bf24a1946e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239d42cbb7a4f1b" /><Relationship Type="http://schemas.openxmlformats.org/officeDocument/2006/relationships/notesMaster" Target="/ppt/notesMasters/notesMaster1.xml" Id="Rd0bf210a2aaa42d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0fb03a9d822409a" /><Relationship Type="http://schemas.openxmlformats.org/officeDocument/2006/relationships/notesMaster" Target="/ppt/notesMasters/notesMaster1.xml" Id="Re2811b1340c44b8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c6478a87af74d71" /><Relationship Type="http://schemas.openxmlformats.org/officeDocument/2006/relationships/notesMaster" Target="/ppt/notesMasters/notesMaster1.xml" Id="Red99e0f6332d4e4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0b7630ad803442e" /><Relationship Type="http://schemas.openxmlformats.org/officeDocument/2006/relationships/notesMaster" Target="/ppt/notesMasters/notesMaster1.xml" Id="R46e317adba1c453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6452eccf6a94b49" /><Relationship Type="http://schemas.openxmlformats.org/officeDocument/2006/relationships/notesMaster" Target="/ppt/notesMasters/notesMaster1.xml" Id="Re9545ca6fda54e9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be9aaeecd424438" /><Relationship Type="http://schemas.openxmlformats.org/officeDocument/2006/relationships/notesMaster" Target="/ppt/notesMasters/notesMaster1.xml" Id="R87d85cf4fb6e48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話す要点: AIエージェントに安全に開発を任せるためのハーネスエンジニアリング。2026/06/26、AIdea勉強会 を中心に、参加者が画面上のどこを根拠として読むべきかを明確にする。進行注意: 読み上げで埋めず、重要語の前後で一呼吸置き、必要ならターミナルまたは次スライドへ切り替える。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話す要点: 実務で使える入口を作る。AIが作った差分をどう受け入れるか、テスト自動化を判断材料づくりとして捉える を中心に、参加者が画面上のどこを根拠として読むべきかを明確にする。進行注意: 読み上げで埋めず、重要語の前後で一呼吸置き、必要ならターミナルまたは次スライドへ切り替える。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話す要点: AIは作業者、受け入れ責任者は人間。実装もテストもAIが書ける、OKと言う根拠は人間が設計する を中心に、参加者が画面上のどこを根拠として読むべきかを明確にする。進行注意: 読み上げで埋めず、重要語の前後で一呼吸置き、必要ならターミナルまたは次スライドへ切り替える。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話す要点: 送料無料ライン変更をAIに頼む。テストが薄い既存システム、5,000円から7,000円へ変更 を中心に、参加者が画面上のどこを根拠として読むべきかを明確にする。進行注意: 読み上げで埋めず、重要語の前後で一呼吸置き、必要ならターミナルまたは次スライドへ切り替える。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話す要点: AI導入前から前提は散らばっている。仕様書が古い、テストが薄い を中心に、参加者が画面上のどこを根拠として読むべきかを明確にする。進行注意: 読み上げで埋めず、重要語の前後で一呼吸置き、必要ならターミナルまたは次スライドへ切り替える。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話す要点: 判断材料を自動で集めること。テストを書く作業だけではない、変更前後の差分を機械で確認する を中心に、参加者が画面上のどこを根拠として読むべきかを明確にする。進行注意: 読み上げで埋めず、重要語の前後で一呼吸置き、必要ならターミナルまたは次スライドへ切り替える。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話す要点: 速いほど受け入れ根拠が必要。読む、直す、テストを書く、実行する、ただし設計無視や余計な変更も起きる を中心に、参加者が画面上のどこを根拠として読むべきかを明確にする。進行注意: 読み上げで埋めず、重要語の前後で一呼吸置き、必要ならターミナルまたは次スライドへ切り替える。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話す要点: AIが安全に作業できる足場を作る。作業前の制約、作業後の確認 を中心に、参加者が画面上のどこを根拠として読むべきかを明確にする。進行注意: 読み上げで埋めず、重要語の前後で一呼吸置き、必要ならターミナルまたは次スライドへ切り替える。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話す要点: Guides / Sensors / Steering。Guides: 前提と制約、Sensors: 自動確認 を中心に、参加者が画面上のどこを根拠として読むべきかを明確にする。進行注意: 読み上げで埋めず、重要語の前後で一呼吸置き、必要ならターミナルまたは次スライドへ切り替える。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話す要点: 失敗から自律ループまで段階的に見る。01なし、02挙動固定 を中心に、参加者が画面上のどこを根拠として読むべきかを明確にする。進行注意: 読み上げで埋めず、重要語の前後で一呼吸置き、必要ならターミナルまたは次スライドへ切り替える。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話す要点: 小さな既存システムに2つの罠を入れる。src/controllers、src/services を中心に、参加者が画面上のどこを根拠として読むべきかを明確にする。進行注意: 読み上げで埋めず、重要語の前後で一呼吸置き、必要ならターミナルまたは次スライドへ切り替える。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話す要点: 1文だけ渡す。送料無料の条件を5,000円以上から7,000円以上に変更してください。、テストなし を中心に、参加者が画面上のどこを根拠として読むべきかを明確にする。進行注意: 読み上げで埋めず、重要語の前後で一呼吸置き、必要ならターミナルまたは次スライドへ切り替える。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話す要点: 実レスポンスは矛盾している。$ curl subtotal=6000、{"subtotal":6000,"shippingFee":500,"total":6500, を中心に、参加者が画面上のどこを根拠として読むべきかを明確にする。進行注意: 読み上げで埋めず、重要語の前後で一呼吸置き、必要ならターミナルまたは次スライドへ切り替える。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話す要点: characterization test。$ node --test、# tests 21 を中心に、参加者が画面上のどこを根拠として読むべきかを明確にする。進行注意: 読み上げで埋めず、重要語の前後で一呼吸置き、必要ならターミナルまたは次スライドへ切り替える。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話す要点: docsではなく実挙動を根拠にする。docs/specs: 送料無料閾値 3,000円、src/config/pricing.js: 5,000円 を中心に、参加者が画面上のどこを根拠として読むべきかを明確にする。進行注意: 読み上げで埋めず、重要語の前後で一呼吸置き、必要ならターミナルまたは次スライドへ切り替える。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話す要点: test緑、architecture赤。$ patch -p0 &lt; ../instructor-materials/bad-controller.patch、$ node --test  # pass を中心に、参加者が画面上のどこを根拠として読むべきかを明確にする。進行注意: 読み上げで埋めず、重要語の前後で一呼吸置き、必要ならターミナルまたは次スライドへ切り替える。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話す要点: AGENTS.md。docs/specsは古い可能性がある、変更対象値を全文検索する を中心に、参加者が画面上のどこを根拠として読むべきかを明確にする。進行注意: 読み上げで埋めず、重要語の前後で一呼吸置き、必要ならターミナルまたは次スライドへ切り替える。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話す要点: CR + AGENTS + Sensors。受け入れ条件が作業前にある、赤を見て原因を探す を中心に、参加者が画面上のどこを根拠として読むべきかを明確にする。進行注意: 読み上げで埋めず、重要語の前後で一呼吸置き、必要ならターミナルまたは次スライドへ切り替える。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話す要点: 赤テストから全緑へ。RED: expected paid shipping at 6999, got 0 remaining、observed: freeShippingRemaining got 0 を中心に、参加者が画面上のどこを根拠として読むべきかを明確にする。進行注意: 読み上げで埋めず、重要語の前後で一呼吸置き、必要ならターミナルまたは次スライドへ切り替える。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話す要点: 機械と人間で見る対象を分ける。機械: test / lint / typecheck / architecture / schema、人間: 仕様解釈、業務妥当性、残リスク を中心に、参加者が画面上のどこを根拠として読むべきかを明確にする。進行注意: 読み上げで埋めず、重要語の前後で一呼吸置き、必要ならターミナルまたは次スライドへ切り替える。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話す要点: spec / ADR / worklog。今回の判断を次回のGuidesへ戻す、「なぜ変えたか」をAIが読める場所に残す を中心に、参加者が画面上のどこを根拠として読むべきかを明確にする。進行注意: 読み上げで埋めず、重要語の前後で一呼吸置き、必要ならターミナルまたは次スライドへ切り替える。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話す要点: 3行プロンプト + front-matter付きCR。AGENTS.mdに従い、CRを処理してください。、人間へ返すのはcompletion-report完成時のみです。 を中心に、参加者が画面上のどこを根拠として読むべきかを明確にする。進行注意: 読み上げで埋めず、重要語の前後で一呼吸置き、必要ならターミナルまたは次スライドへ切り替える。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話す要点: completion-reportで出口を絞る。completion-report、- CR-ID: CR-2026-06-26-free-shipping-threshold を中心に、参加者が画面上のどこを根拠として読むべきかを明確にする。進行注意: 読み上げで埋めず、重要語の前後で一呼吸置き、必要ならターミナルまたは次スライドへ切り替える。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話す要点: AI時代は足場づくりが中心になる。テストを書くことだけでは足りない、AIが作業しても壊れない受け入れ手順を作る を中心に、参加者が画面上のどこを根拠として読むべきかを明確にする。進行注意: 読み上げで埋めず、重要語の前後で一呼吸置き、必要ならターミナルまたは次スライドへ切り替える。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話す要点: Guides / Sensors / Steeringが一周した。ハーネスなしで矛盾、挙動を固定 を中心に、参加者が画面上のどこを根拠として読むべきかを明確にする。進行注意: 読み上げで埋めず、重要語の前後で一呼吸置き、必要ならターミナルまたは次スライドへ切り替える。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話す要点: 小さく始める。代表的な入出力を3つメモする、AIに既存挙動テストを作らせる を中心に、参加者が画面上のどこを根拠として読むべきかを明確にする。進行注意: 読み上げで埋めず、重要語の前後で一呼吸置き、必要ならターミナルまたは次スライドへ切り替える。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話す要点: AIに安全に任せられる状態を作る。AIに任せるのではない、AIに安全に任せられる状態を作る を中心に、参加者が画面上のどこを根拠として読むべきかを明確にする。進行注意: 読み上げで埋めず、重要語の前後で一呼吸置き、必要ならターミナルまたは次スライドへ切り替える。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話す要点: 現場に持ち帰る論点を回収する。理解度、現場への適用可能性 を中心に、参加者が画面上のどこを根拠として読むべきかを明確にする。進行注意: 読み上げで埋めず、重要語の前後で一呼吸置き、必要ならターミナルまたは次スライドへ切り替える。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c9c866869b42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8b7e45f9de495d" /><Relationship Type="http://schemas.openxmlformats.org/officeDocument/2006/relationships/slideLayout" Target="/ppt/slideLayouts/slideLayout1.xml" Id="Re33af015a39f46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3af015a39f46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1ee95441cc49ab" /><Relationship Type="http://schemas.openxmlformats.org/officeDocument/2006/relationships/notesSlide" Target="/ppt/notesSlides/notesSlide1.xml" Id="R4f914337e36944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6a8f0f626c4b12" /><Relationship Type="http://schemas.openxmlformats.org/officeDocument/2006/relationships/notesSlide" Target="/ppt/notesSlides/notesSlide2.xml" Id="Rca3b1c63efb942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e88067205e4bf1" /><Relationship Type="http://schemas.openxmlformats.org/officeDocument/2006/relationships/notesSlide" Target="/ppt/notesSlides/notesSlide3.xml" Id="R525ffc252e544e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85a28c25164745" /><Relationship Type="http://schemas.openxmlformats.org/officeDocument/2006/relationships/notesSlide" Target="/ppt/notesSlides/notesSlide4.xml" Id="R1f4fef83d78f4e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46b1f3224c47d6" /><Relationship Type="http://schemas.openxmlformats.org/officeDocument/2006/relationships/notesSlide" Target="/ppt/notesSlides/notesSlide5.xml" Id="Rabe888d7bf014b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3345e5e2984868" /><Relationship Type="http://schemas.openxmlformats.org/officeDocument/2006/relationships/notesSlide" Target="/ppt/notesSlides/notesSlide6.xml" Id="R0ac30086b30b4f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74c52ad4414717" /><Relationship Type="http://schemas.openxmlformats.org/officeDocument/2006/relationships/notesSlide" Target="/ppt/notesSlides/notesSlide7.xml" Id="R393c100f26e24b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b1ebb2b9414557" /><Relationship Type="http://schemas.openxmlformats.org/officeDocument/2006/relationships/notesSlide" Target="/ppt/notesSlides/notesSlide8.xml" Id="R388ff0fe4e0847c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6a9a3c6a9e47cd" /><Relationship Type="http://schemas.openxmlformats.org/officeDocument/2006/relationships/notesSlide" Target="/ppt/notesSlides/notesSlide9.xml" Id="R608c575478d34a1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90c09cc16242e1" /><Relationship Type="http://schemas.openxmlformats.org/officeDocument/2006/relationships/notesSlide" Target="/ppt/notesSlides/notesSlide10.xml" Id="Rd6e1573e8852402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78a1fdd97d40f4" /><Relationship Type="http://schemas.openxmlformats.org/officeDocument/2006/relationships/notesSlide" Target="/ppt/notesSlides/notesSlide11.xml" Id="R6920a14c7e61426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b0b133e7f1418c" /><Relationship Type="http://schemas.openxmlformats.org/officeDocument/2006/relationships/notesSlide" Target="/ppt/notesSlides/notesSlide12.xml" Id="R86a875756e4d4ef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47a655eab64974" /><Relationship Type="http://schemas.openxmlformats.org/officeDocument/2006/relationships/notesSlide" Target="/ppt/notesSlides/notesSlide13.xml" Id="Rb6a49b847871470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d3bcf54a044577" /><Relationship Type="http://schemas.openxmlformats.org/officeDocument/2006/relationships/notesSlide" Target="/ppt/notesSlides/notesSlide14.xml" Id="R978c89da9329470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447a7565eb45b8" /><Relationship Type="http://schemas.openxmlformats.org/officeDocument/2006/relationships/notesSlide" Target="/ppt/notesSlides/notesSlide15.xml" Id="R11ad55ba5da14fc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c5220c35504fde" /><Relationship Type="http://schemas.openxmlformats.org/officeDocument/2006/relationships/notesSlide" Target="/ppt/notesSlides/notesSlide16.xml" Id="R18531f4efdad491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24e1a3d9da415b" /><Relationship Type="http://schemas.openxmlformats.org/officeDocument/2006/relationships/notesSlide" Target="/ppt/notesSlides/notesSlide17.xml" Id="R46426e5d162a4a0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05f8eaa01b44b7" /><Relationship Type="http://schemas.openxmlformats.org/officeDocument/2006/relationships/notesSlide" Target="/ppt/notesSlides/notesSlide18.xml" Id="Rdc7465c8c95d43b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9baa67713e41b6" /><Relationship Type="http://schemas.openxmlformats.org/officeDocument/2006/relationships/notesSlide" Target="/ppt/notesSlides/notesSlide19.xml" Id="R06838b1999d24d2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8ae60d10954cad" /><Relationship Type="http://schemas.openxmlformats.org/officeDocument/2006/relationships/notesSlide" Target="/ppt/notesSlides/notesSlide20.xml" Id="R0ec3e0617e43483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856b4927e24c53" /><Relationship Type="http://schemas.openxmlformats.org/officeDocument/2006/relationships/notesSlide" Target="/ppt/notesSlides/notesSlide21.xml" Id="R0f8c04a270d749f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d7d7822b1d4920" /><Relationship Type="http://schemas.openxmlformats.org/officeDocument/2006/relationships/notesSlide" Target="/ppt/notesSlides/notesSlide22.xml" Id="Rfc51adb4cd7b44a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8014d848c6429d" /><Relationship Type="http://schemas.openxmlformats.org/officeDocument/2006/relationships/notesSlide" Target="/ppt/notesSlides/notesSlide23.xml" Id="R781c9d7e46bb47c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d5c0d8e0054cdf" /><Relationship Type="http://schemas.openxmlformats.org/officeDocument/2006/relationships/notesSlide" Target="/ppt/notesSlides/notesSlide24.xml" Id="R19baa9c9d7a74dc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c78506045d4f76" /><Relationship Type="http://schemas.openxmlformats.org/officeDocument/2006/relationships/notesSlide" Target="/ppt/notesSlides/notesSlide25.xml" Id="Rb0428bd062fb453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0879f2016544fb" /><Relationship Type="http://schemas.openxmlformats.org/officeDocument/2006/relationships/notesSlide" Target="/ppt/notesSlides/notesSlide26.xml" Id="R6a86c69113b8478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add1e639ee43d3" /><Relationship Type="http://schemas.openxmlformats.org/officeDocument/2006/relationships/notesSlide" Target="/ppt/notesSlides/notesSlide27.xml" Id="R1f4c587b25a64c7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af12c7d39d4bef" /><Relationship Type="http://schemas.openxmlformats.org/officeDocument/2006/relationships/notesSlide" Target="/ppt/notesSlides/notesSlide28.xml" Id="Raca7e44dd8ae497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842B3C-E31C-43E0-BEE1-B65A7332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AD64FC-88BC-419B-A063-55218DB7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DB07E0-C692-46A0-81D4-338D87C2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C82347-1219-4B21-B344-98EDCC94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INTRO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E4985C-72F5-4503-AC6B-E5A1445C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C7B4AD-57B2-4639-ABDD-12C0F590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57300"/>
            <a:ext cx="8286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AI時代のテスト自動化入門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574F99-4569-46F3-AD56-6DAA5AC7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723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1D5DB"/>
                </a:solidFill>
                <a:latin typeface="Aptos"/>
                <a:ea typeface="Aptos"/>
                <a:cs typeface="Aptos"/>
              </a:rPr>
              <a:t>AIエージェントに安全に開発を任せるためのハーネスエンジニアリング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62D142-C7B7-4B8C-B790-19838754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7215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2026/06/26 | AIdea勉強会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92410A-E323-4C01-856B-F14CAC47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4083773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D3115F-1BC9-4527-9F06-669F6B9A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017D31-6ADF-43D7-9402-15EA74AF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060921-815A-4B9F-A129-3C457DD1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11A454-DB5E-4934-BF16-C18744E2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AAD0FE-DFE2-4187-8E04-E3043C1A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1000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AIdea勉強会の目的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884586-C625-449F-B1FB-764466B9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実務で使える入口を作る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2A4906-D9E9-4DBC-8394-A4FB0980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2EA77D-13BB-46F4-A22E-25D317B3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14E921-A7FF-4643-9A27-E441293B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7486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AIが作った差分をどう受け入れるか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20BA69-3EC8-4583-9176-67977FC8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24883C-0051-4F70-8994-D3FA9C17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447A27-C32E-4D9E-8CB7-EC3C1E26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57550"/>
            <a:ext cx="7486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テスト自動化を判断材料づくりとして捉える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251442-B739-4E20-9725-630B91DE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5491535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733367-9DAE-42E2-B3DD-44774D21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1DF250-7810-4B14-B796-DE5C4553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9DCA59-05BF-4B82-BCD7-F8CDAB56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641DA6-4803-403A-8640-F9FC4688E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TAKEAWAY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AD48A5-4542-4359-8331-CC81EB96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1000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今日持ち帰ってほしいこと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6DBD08-447F-4334-9061-B64C096D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AIは作業者、受け入れ責任者は人間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C53A75-C108-43AB-919F-94E3EDD6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639DB9-A87B-477C-A49D-D46DE80E9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AD05B1-F009-440D-86B0-9C25F088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7486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実装もテストもAIが書ける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5D49C4-9608-4671-96BD-C173E67B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7BE96E-DA1D-47F4-8998-507F4C3F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E20752-8124-4C84-A601-DC6F63BD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57550"/>
            <a:ext cx="7486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OKと言う根拠は人間が設計する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88721A-01D3-48AF-B9C5-64796C91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CEED52-B691-424C-A2C6-8871616B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59C9AD-7C46-4C9C-96BC-E6A753D8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7486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根拠を集める足場がハーネス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CFCAFD-139C-4DCF-BAA5-50743624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8811348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572E20-5EDD-49A0-B553-C28DD81B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86BB32-17BB-4FDA-93FD-98232A10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4938CC-AD04-4778-B8D2-74D1024A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413606-C9C3-4124-BDFC-82C330DE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3B170D-8E88-4A8A-9A4D-0EA865ED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1000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今日の問い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23444A-DEFD-4D0B-8EC1-FCD1A9A3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送料無料ライン変更をAIに頼む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6834DA-D7C4-4050-9CA3-C6F1EA6F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73B5C1-7CE1-44F5-ADFD-B505EA51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0FC7AC-5F77-4D71-95EB-A787D04E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7486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テストが薄い既存システム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49A844-6994-480C-A8F6-1E40B7AF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F5541A-5F0D-4693-B70C-03030F8D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AC6263-19FD-4370-954F-C95654DF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57550"/>
            <a:ext cx="7486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5,000円から7,000円へ変更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54E397-6DFE-410F-AD63-2B5A0884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50283A-ACF2-4B1A-B608-1749CB73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DA85BA-47F5-4E5D-97B0-8E7ABE0C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7486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何を見ればOKと言えるか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A5E6B2-BD1A-421F-8CB3-E88ACBA0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1861252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73CA89-2148-4D46-8499-DDCE4A1A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6B5737-F445-4DEB-8E16-ACE76B33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783596-B6E5-4453-B9AD-EDB618F6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095D11-F544-41D1-BE7E-B9737338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REALITY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7B5C4A-554D-4693-A78A-CDBBC774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1000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よくある現場の状況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3FCE6C-6D47-4559-9758-F3C5D21F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AI導入前から前提は散らばっている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30BAC6-130F-40BC-B72D-3883AA3E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12B4EF-F716-42B8-B2AA-CD28A6E2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D36D81-95DF-46FC-8C20-7B2B3CCE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7486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仕様書が古い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38EFE9-33E1-4DA0-A9CC-30D7BAF0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2BE9D3-0C32-4B0F-A041-8CDEB64C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7983D8-02AA-460D-AC7F-9A6C30BB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57550"/>
            <a:ext cx="7486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テストが薄い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F3CDAA-900E-41BC-B844-8462182E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F63897-6EA4-4F41-9275-37AEACDA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AA0388-ECEC-4882-8CDC-31884FD8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7486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確認が属人化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754C2C-E919-4DBF-9C11-18A378DD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09B7ED-3265-4F65-AAEC-6DEBC667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070E77-30AF-4A1C-A53E-34FC91E5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38650"/>
            <a:ext cx="7486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変更理由が残らない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942506-0A09-47FF-9F05-5FC019AF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6143044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692F56-E6FA-40D5-811B-695C3839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07CB81-9A18-4A19-815D-0F028594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D01E4F-90AB-4747-810D-C44CE5D5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1BF0FD-8E53-4371-A2BB-850D4ACD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TESTING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44F190-F4BE-442D-A025-8F894DF4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1000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テスト自動化とは何を自動化することか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FCB27B-E98C-4E72-9370-8DC083ED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判断材料を自動で集めること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8FD9F7-971A-4E32-A34B-EA49E4D0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6CFB9E-5DA2-4769-8D1B-4D26C32B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55E941-51F8-416D-AB30-B2291F12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7486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テストを書く作業だけではない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65993B-748C-49FC-9C7D-5E090227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0A960C-CEA2-44C8-BD45-1BB81FA9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C21847-6C1A-4C4F-B165-82259731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57550"/>
            <a:ext cx="7486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変更前後の差分を機械で確認する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B3C019-1738-44BC-BFD5-DE33E274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A3FB5A-566B-4378-80E2-6ED3BCBD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3BBEEE-AA01-4E15-910B-5F4C65B6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7486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人間は仕様解釈へ集中する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492B22-D4BC-4980-BF9B-A1156157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5385708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B0A128-284A-4A9C-97AC-88879225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3F4A08-9F05-41A5-918A-0173658C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7C7B16-1673-43DA-BF68-BBD15BD3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F50C75-C14B-4E3C-AAE8-C73CAC20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C5C9A8-7585-4931-A555-3542CFA65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1000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AIエージェントは便利だが、放置は危険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8E7A6C-3CAE-49B5-B150-89D5D783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速いほど受け入れ根拠が必要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4BD11A-6DCE-4472-AA11-7DA027DF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895D0D-5C19-4983-9327-04238CC5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742EB0-AF07-4ABE-AFBB-1FC690B8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7486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読む、直す、テストを書く、実行する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716EE1-A969-4001-98FE-B2A4D537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4FBF45-2DFE-49D5-8C18-E658DF3A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1AC07E-A7E6-4491-89A4-DAB1D8B3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57550"/>
            <a:ext cx="7486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ただし設計無視や余計な変更も起きる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EE3164-A8AD-4E6E-841B-4D40DF55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0658772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E8E758-4BCC-40B0-954A-49B01621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BE72EB-D382-470E-AC88-59DD794E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98AA82-AA8B-4E26-A11F-D898BB38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7A2D63-41CF-44A7-81B3-A889D7F0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HARNESS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EBCC5B-E2A2-4DA1-976A-5879551B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1000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答え: ハーネスエンジニアリング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D38657-C9D0-4F6B-A830-CD4F7BC2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AIが安全に作業できる足場を作る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E82E1B-2648-44CD-A846-7733E7A5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BE1009-64E8-4190-9F8A-2D0BDC0F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A340BE-4D1D-45A4-9460-EA714B72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7486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作業前の制約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2C3A5B-C90C-40EF-9194-5745892B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6BAFCD-A64B-4DE9-BE52-FE3E2716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EB3A4A-FD9F-4869-B6A1-23E5A9E7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57550"/>
            <a:ext cx="7486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作業後の確認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DC4EEE-3AFD-4D4E-9D35-1E4513E8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9CAE2D-7B68-4AF0-BE78-82B103D7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EB9D20-9B62-44DC-8F51-3A88241D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7486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判断記録を次回へ戻す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20BE93-D789-4BDE-ADDD-B121ACFF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4502966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4826E5-161F-45A7-970A-F7A36C1B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C7638A-E399-4B8F-8480-55F4868F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853470-3100-4CE8-AE44-C77C91A3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CF3C36-6C0C-4BA7-88CE-E25B7930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1A11A3-B10C-4CD1-A83D-BD6FB2F0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1000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ハーネスの3要素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10A5CE-B3D3-4223-A498-D4362DD7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Guides / Sensors / Steering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773035-B4E0-4842-AF35-39971D9C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1000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ハーネスの3要素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043696-FFCE-4287-8B95-BDAA2CB4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Guides / Sensors / Steering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B6A733-492E-463F-8481-7137EE42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266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ADE8DB-C587-493C-AD19-89FF7A14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5D436F-DC39-4FF4-BCE3-4D095EB7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33675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Guides: 前提と制約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6A7FC9-1F41-4814-B600-C78173BB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71750"/>
            <a:ext cx="266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0DEE10-F859-4BF9-8EE3-B7E3F55C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717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34FA43-179C-4732-93C7-7640CBC2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33675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Sensors: 自動確認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4E06EA-2657-4436-AFB0-8CBFD630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86250"/>
            <a:ext cx="266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35DE92-D811-4724-8990-969548F2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862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B87FED-5EF4-4529-A5D4-96874B88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448175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Steering: 人間判断の記録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64A538-D8CF-4890-B84E-FDA67D66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504015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455D0E-18BD-41ED-B661-C899DAA5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96FAAB-95FF-44D0-849A-79915D55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752DE4-4B54-4EC3-BE40-3CF54CFD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01B4B7-A096-462E-B970-107ABED8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DEMO 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CDBEDB-EDEC-4A26-932E-F4567D20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1000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今日のデモ全体像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5BFFB5-92AD-4B70-B90B-9838F8B0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失敗から自律ループまで段階的に見る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731FCE-F353-432C-8BC7-68088F99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31CC62-B721-40DF-B8E1-22ED66BC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E9018F-A1C2-4856-98AA-17059C34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0"/>
            <a:ext cx="3771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01なし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3AED56-3CD0-48E9-801A-013F0123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57175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6B6895-D8B2-4DCD-9810-BAE5BA1F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57175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7A9464-EA8F-4D36-94BC-8FCDEBC8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67000"/>
            <a:ext cx="3771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02挙動固定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F2FFBE-26A6-406E-833F-857D4EA3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BA012C-53AB-403F-8BB6-8118BFA3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A02375-4452-4A0E-9D8B-E9E3AFB6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86150"/>
            <a:ext cx="3771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03構造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B6F118-5978-4686-BEA8-5A1E6386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39090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B0BB4E-3E2A-4E22-AC66-19481945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39090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FE6130-3674-469E-BEE1-9CB05196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86150"/>
            <a:ext cx="3771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04ハーネスあり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CED5C2-FFBE-46B6-B0EF-6860C1E3C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A21D71-B393-4C52-9B21-D2BB28C2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28D6DF-F29E-4AC3-B7AE-743F399D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05300"/>
            <a:ext cx="3771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05自律ループ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E512A5-2EAA-4D68-AF16-A9498737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3762894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C26C6E-B52F-4461-820B-D92B77DD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C9A2B6-6840-4D6E-BEE1-7E5F5F7F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8C01C5-69EA-4469-9F9F-45285F7E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1BB346-D297-43B2-AF09-977C0F74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CODEBASE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8A695A-8F59-4438-A70D-F2A897D5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1000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デモ題材: 注文金額計算API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ED0343-B0BE-47C5-8D67-F003CDCA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小さな既存システムに2つの罠を入れる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BE2DEA-0032-4B27-AB78-56C6AA1B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622D41-40B8-4DF9-9306-A34D88E2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FDC1C2-4CD7-40C4-A154-B9CE1F98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0"/>
            <a:ext cx="3771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src/controllers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CEF864-6B36-4D24-81A8-833173A4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57175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D7370A-C60F-467D-91A9-38175B42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57175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D50F8B-284B-4E8D-AEF8-2F1040C8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67000"/>
            <a:ext cx="3771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src/services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B86028-9407-4BA2-BEEE-B726793D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D143D1-B48F-49E4-9CF8-1A4AFEF0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29594F-AF11-4FBA-ABC0-4C847243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86150"/>
            <a:ext cx="3771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src/repositories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045591-C819-4F68-9FBB-3074178F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39090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82B55A-65CF-4891-B183-74BF1DEB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39090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47B4D1-09A6-43C6-9D72-24BEE993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86150"/>
            <a:ext cx="3771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src/config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DD7372-93E3-42D3-BD76-079D02BF9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8E0EED-16B2-4836-B133-0C549600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B85023-12A4-4536-B414-FDD5B007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05300"/>
            <a:ext cx="3771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罠: docsは3,000円、コードは5,000円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CEB98B-E2C4-4AA7-9B17-9AA8FEAC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2367309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DAFD3E-569B-4345-BD17-1FD9EDF7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8CDC73-FA3B-4A85-A934-A83A8C44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758727-EE0B-4D3B-93C1-53C55B4E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367D12-F8DA-45D7-B10F-E04EF52B7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DEMO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8F6041-564C-474C-943E-A57997CD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1000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Demo 1: ハーネスなしでAIに依頼する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D359F8-74A6-4A83-A536-3B4A5B85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1文だけ渡す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176596-F4E2-4A89-BC8F-2B943510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FA9DD3-DEFC-44EF-A595-D8DA7868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9CC2E0-F260-419B-B712-CB7FA56B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7486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送料無料の条件を5,000円以上から7,000円以上に変更してください。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A0FE6E-FEAB-46FF-A0CD-5F7EF4BF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5DA651-967E-4B92-9A7A-788826AC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A408B3-B8EA-4B09-861F-20553DE9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57550"/>
            <a:ext cx="7486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テストなし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D609B3-E75C-46D2-BAF2-D37A1500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BFC324-4CD8-4D71-B287-F213A319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E7B3DB-9670-4091-B4BD-CE9BC589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7486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センサーなし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2E7652-78E0-4349-A98B-E801713C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2620246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D2A9A1-91D8-4596-BC51-CB529CA4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D4B418-5CA5-4520-B33B-A0ABD2FC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FD42BA-7BC5-4486-97B8-64213C16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6CD7CB-58AB-422C-9A17-5368F923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7D0E0E-AB91-4570-826E-7B4A0519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1000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「できました」は信用できるか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FE4688-E0BB-48D8-9EC6-2E810B68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実レスポンスは矛盾している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30E899-5197-49E9-AD10-067867AD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72390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824EEC-D17A-4702-A23B-FE3E09BE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28900"/>
            <a:ext cx="68199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$ curl subtotal=6000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{"subtotal":6000,"shippingFee":500,"total":6500,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"freeShippingThreshold":7000,"freeShippingRemaining":0,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"message":"送料無料"}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shippingFee":500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message":"送料無料"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0E39BB-E824-4503-99D8-2D56A02D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86050"/>
            <a:ext cx="2667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実際に採取したログの特徴行を表示。黒箱は内容量に合わせて高さを変え、空白で水増ししない。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B0F452-10AD-4C98-8930-ABA1E397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8905508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3F94E8-ECFB-42C0-802E-9C07FDDB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332D45-FE04-4E2B-A031-6D2A0AEB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BB046C-EF40-43DF-8632-12FA4E5A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6925CF-C460-4BB7-BAFB-92BC6DCE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DEMO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9D416B-611A-408C-9121-5D3718F1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1000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Demo 2: まず、今の振る舞いを固定する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5DF806-2B98-4975-99F5-2F56CD7E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characterization test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835CD8-884C-4C6C-BFEA-48602A78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7239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EFE8AB-E04E-45E0-BA9F-14004154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28900"/>
            <a:ext cx="68199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$ node --test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tests 21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pass 21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境界値4999/5000と不変条件を固定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BA6AAE-D2AE-4F7A-A2AC-B051FC5A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86050"/>
            <a:ext cx="2667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実際に採取したログの特徴行を表示。黒箱は内容量に合わせて高さを変え、空白で水増ししない。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B1E4EB-334C-437E-BF9B-63F26939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9795727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132005-0A7C-4CD6-A9C1-C1D4DEA2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01D8F3-DABD-47E8-B563-93A87669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3F824D-B7CD-4DCB-AA26-D84B4532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3FE58C-DBD7-4707-B02D-E0750CAA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SENSORS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5FF2DC-E19D-4774-A7A2-445AB04D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1000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テストがAIの足場になる + 仕様書は嘘をつく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27FE0E-E1EA-43D7-9787-2CD93185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docsではなく実挙動を根拠にする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8D81EC-9449-4887-8298-BA55B351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AE0A56-2C3B-495A-B998-00AEAB74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BE3791-8A74-45C5-9305-68FBD3FB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7486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docs/specs: 送料無料閾値 3,000円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4D9159-8134-43F5-84E3-59426717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50390B-03AA-4DCD-855A-A29485E2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3F61DF-25B1-4AEC-BBF7-F0107554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57550"/>
            <a:ext cx="7486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src/config/pricing.js: 5,000円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127CAE-6258-4B37-804B-81FA3970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1990E8-7276-4ABD-B046-6B95F3FD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6DE889-94F5-4E44-AD77-0EA478C3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7486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先に現在地を固定する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7245F3-0C4E-4E9C-B7EA-C0657C2B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50857620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BB06F4-E8C8-44E2-8350-122FD81E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717DA5-722D-4D7D-8B2D-6704FB32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9F5753-6C06-4AE0-AFE9-130F1B47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D97E6A-E5D5-4864-81D9-726A4243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DEMO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6903D6-2A49-453E-A9B3-BEE3D22D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1000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Demo 3: 動けばOKではなく、構造も守る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5532D5-29C2-4A4E-A3E6-0BF86E14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test緑、architecture赤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0AC9D8-D052-4E61-A6C1-B4A1CF0B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72390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771284-5CBA-4C90-B7BD-C801F83C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28900"/>
            <a:ext cx="68199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$ patch -p0 &lt; ../instructor-materials/bad-controller.patch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$ node --test  # pass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$ npm run sensor:architecture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[architecture] NG: src/controllers/orderController.js: 数値リテラル 10000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captured: 数値リテラル 10000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22F622-B723-4AB8-A186-E814E31B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86050"/>
            <a:ext cx="2667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実際に採取したログの特徴行を表示。黒箱は内容量に合わせて高さを変え、空白で水増ししない。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F5C498-4737-42BF-976F-4E39594D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60318802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F4A55B-54C1-4980-8128-00BDC7E4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962342-3411-4B83-9562-F1ECEF6E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3C77BC-2D53-4871-8173-D819EBD4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56C0E5-4979-4E18-8FA6-7F6A85E0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GUIDES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F09545-2398-401A-AB08-7384C527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1000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Guides: AIに任せる前に、守ってほしいことを書く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9CB2C5-5DC4-48F8-A6BE-3D08A276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AGENTS.md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CB06A1-C67A-4D03-8558-4B0A9E84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32FF1B-7937-4C23-BD77-829BEBFF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BCBF56-64A8-41F6-8257-D904ADE7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7486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docs/specsは古い可能性がある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EEB534-02BF-496C-81A6-A8621663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2F6E18-46E1-455A-8D0F-3A866019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FB04C8-EADC-4347-AEE7-A3255695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57550"/>
            <a:ext cx="7486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変更対象値を全文検索する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1576E2-CE52-4AAE-8EED-16265168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3157FB-F168-4F6D-B030-6CBF1CD3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95D765-3180-4B9F-B502-0B013FC1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7486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controllerに金額計算を書かない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B01F48-DE09-4312-9C53-D1A9F6B3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384ADB-26CB-47B0-BA10-00976E5C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6A6C46-77C1-4B89-AB89-6BF66B70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38650"/>
            <a:ext cx="7486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npm run sensorsで止まる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E0DB46-314C-45DE-B11E-559A9A5C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97262558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E7ECD3-4DBA-413E-8F99-D7DD9418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E91D17-816C-48B0-9030-C957BD65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A22FA7-1013-4A53-A5B4-AD8BE235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769431-EB46-490B-B833-13B1B9C1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DEMO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1697B0-61DD-4055-ABC6-C05118F2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1000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Demo 4: ハーネスありで、同じ変更を頼む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58A0F4-2EE2-49C9-8BD0-30C1C2D1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CR + AGENTS + Sensors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2D3A45-2575-4035-A809-AE930EF9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63F466-2C2A-4685-BDE9-1F085111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C82791-3109-4F29-A1CC-B96A0C31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7486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受け入れ条件が作業前にある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91735D-55B3-45D0-8035-5E74E9CB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C22248-ECFE-4541-B548-525B7F09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62DDB5-6270-413B-B700-65E4F4D0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57550"/>
            <a:ext cx="7486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赤を見て原因を探す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DA2B5C-1BD3-42C7-954F-4C70914B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A01EF7-0B28-4F2E-BCCE-82C6747B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4808D9-8599-484D-AA94-B3EE5CDF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7486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spec / ADR / worklogまで更新する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E873B3-F568-44E8-8BF7-1EE4AD19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92544504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CE65B4-F5F7-4F53-A46E-2B1DACC6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38B62E-6847-48BA-BC9D-66FBA03B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CE047F-F6C9-4F8F-8AD3-801AD25B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33AACB-60CB-4194-A6D5-35D8F602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RED TO GREEN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BFB1B6-D180-47F3-9C1E-CBFCB5FF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1000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センサーが罠を捕まえ、AIが自分で直す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E3BAF6-39AA-46FA-80C7-8A1329D9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赤テストから全緑へ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1207DA-A8C8-4077-A933-F34E5756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72390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7BCF8C-95F6-44CC-8DD7-65AB0AFB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28900"/>
            <a:ext cx="68199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RED: expected paid shipping at 6999, got 0 remaining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observed: freeShippingRemaining got 0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| sensor | status | durationMs |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| test | green |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| architecture | green |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| schema | green |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captured from red-to-green.txt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CDB21B-3169-4512-BEC1-63ACD9C8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86050"/>
            <a:ext cx="2667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実際に採取したログの特徴行を表示。黒箱は内容量に合わせて高さを変え、空白で水増ししない。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0BDFB1-3280-454B-8564-6E567DFA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555689292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F011C6-F652-4B32-91DD-D8E36D14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B6A7CB-F9BE-4C7C-8D26-F611A79A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386FA5-E3FC-4043-9D35-D11D17DC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2507A9-7ADE-4349-B43D-63D3FE44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STEERING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ED07B2-6CF2-40A2-AB29-0D617623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1000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Steering: 人間が見るべきところはどこか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C4BC3E-E7F3-4F06-A26B-D4601851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機械と人間で見る対象を分ける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FCCE4E-AABA-4C8B-A549-171D433F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AA6F6D-24B7-4AFA-B1F6-86C5EF39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BDDEE5-451C-4514-BDB4-E5D779FD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7486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機械: test / lint / typecheck / architecture / schema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1BABD6-966F-4F84-BDD5-6BF0734C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25624A-D3E0-4005-A93C-09D0B51C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AEBFF1-F0B6-451B-A184-AFB44569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57550"/>
            <a:ext cx="7486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人間: 仕様解釈、業務妥当性、残リスク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65629C-5FCE-433D-B3AC-229A742D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3135812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FDE36D-C7A4-4F15-AFD5-DF932261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D37617-9370-443B-9206-80304453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832DB6-3DB9-4082-AB38-BBC2FAE6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FCAE2E-5D20-467E-9F9E-1D2463A8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399DA2-D3A2-4462-8335-15968BBC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1000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判断を記録し、次の前提にする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EE1312-8D52-45C9-A6BC-E0D3076F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spec / ADR / worklog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70A35B-600C-47FF-8F90-5A956196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7BFBC2-1A19-4F5D-B69B-78F75D41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E93562-50FC-4F17-9FCC-951387F3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7486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今回の判断を次回のGuidesへ戻す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A85727-103A-4FF5-8D75-C9E09E33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9473B0-851B-4F4B-A2BF-D17DCD3F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1B45B5-1934-4A7B-8CE7-8BAA7C39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57550"/>
            <a:ext cx="7486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「なぜ変えたか」をAIが読める場所に残す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3B4957-514A-4186-9499-C3DE7D4B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33339214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24E1B0-2BC9-4FBB-B489-0D6A5AFB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EA2B30-41A7-454C-80E8-AB3FD90A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F6AA3F-E6B4-40BF-8F76-9198E0A0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96875A-FF2A-4D80-827C-FFD6216C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BONUS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70EC9F-5934-4139-AD9B-B89D6354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1000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もし、全部任せたら?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DE8518-6595-48BF-82F3-B2EE33CF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3行プロンプト + front-matter付きCR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8F6AA8-4BDB-48B6-B24F-6FFA2E12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0C93CA-CBA4-4919-BDB3-15962524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6E88BA-DA50-4B65-B377-23AE6A62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0"/>
            <a:ext cx="3771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AGENTS.mdに従い、CRを処理してください。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EC0754-00B8-4543-957C-034355FE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57175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F7F55F-B84B-46A2-A664-73018494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57175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B50F42-516B-4D29-A8F9-01D75130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67000"/>
            <a:ext cx="3771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人間へ返すのはcompletion-report完成時のみです。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69DDB9-49F8-4D6D-B179-25836226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D10B0B-74B2-464A-98FE-A0FF45A1C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1AEFD5-5291-4051-8FDC-7105033F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86150"/>
            <a:ext cx="3771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途中で質問しないでください。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79B6CF-04CB-45B0-9E6F-1D1BC818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39090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E3A304-998A-4D0B-A7A1-494AA16F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39090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4E09C5-B191-4215-9AEE-A8273452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86150"/>
            <a:ext cx="3771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---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B96DA6-419C-49CD-87DC-41B46581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43951C-0395-4626-B56A-27568820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9BD92A-F76A-468C-8195-396931E1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05300"/>
            <a:ext cx="3771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status: in_progress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97F2AC-E5D3-4987-8154-9BE728D6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21005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CE679D-80B2-4CE0-A53C-5CCBD8F4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21005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6982EA-7DC0-4C61-882B-2B399289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05300"/>
            <a:ext cx="3771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expected_behaviors: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A8A126-528F-477A-B2D8-F6FAD1FC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2920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A0097F-AA3C-4D54-B2D1-02C471F8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2920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7C94E1-D387-48EA-9C0B-7DF60C66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24450"/>
            <a:ext cx="3771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required_artifacts: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3D89B7-7AB8-4A52-AFB0-6F3ABF40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072296442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6D5B1E-6FC5-4D6C-8A72-C77EDD69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BC229A-E1D7-4CEC-BFDE-F8997B9B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F9E404-DB01-4C92-80D3-D4C58BFF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C16B19-F47B-4E40-97D9-AB2B21D0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AUTONOMY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9D2180-AB9B-43B3-91BC-8446022C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1000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人間の介入は入口1回+出口1回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CB24BA-182E-45BD-B67B-CA4DA3F9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completion-reportで出口を絞る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B812A8-BFEA-4148-AB68-D4DEE636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72390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1C40A1-D5A2-49F3-9F31-46F061AD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28900"/>
            <a:ext cx="68199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completion-report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- CR-ID: CR-2026-06-26-free-shipping-threshold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- 反復回数: 3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- 全sensor結果: green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| demo | human interventions |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| Demo1 | many: manual inspection |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| Demo4 | 2: prompt + review |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| Demo5 | 2: entry + exit |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captured completion-report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1CA198-E9C8-4705-8F06-650CF7B4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86050"/>
            <a:ext cx="2667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実際に採取したログの特徴行を表示。黒箱は内容量に合わせて高さを変え、空白で水増ししない。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2E8F2F-1E69-405E-A384-22A58B12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338898396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F73844-F609-47D6-9539-DC4AD798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70D59E-57C4-4D72-B5D2-D04F9310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05CDB4-7A0A-4439-BFD8-BC5B330A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A66DF1-7987-4828-9EFF-618A2ABC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UPDATE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0E99F4-167F-4147-B9E6-07ED0DDB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1000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テスト自動化の考え方を更新する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BDF36D-EE73-4B9B-AE8F-ED455B49F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AI時代は足場づくりが中心になる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F39871-FA55-40C0-BFC4-D25CBBED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08902A-DDF4-4E5A-A446-AD1CD043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A2FB85-9370-429D-8269-F21D57CB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7486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テストを書くことだけでは足りない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DE083B-B4A3-4935-AA68-395E5E05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703412-2877-4281-9F59-250F3324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CCC941-73CD-4D81-AA45-C8C0BF6B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57550"/>
            <a:ext cx="7486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AIが作業しても壊れない受け入れ手順を作る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A74A9C-C3A6-4CF3-AC20-095A249B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301828675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68956C-760F-4410-90F8-6A02494F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918D32-6BB4-4A96-86A2-ECB7C1488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2027E8-189D-4DA4-8D12-6C146E16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2B8927-DD2F-4E29-80A3-CD0AD502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RECAP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74CDC1-B1CE-495F-B4C0-9F21E9FF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1000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今日の流れの振り返り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67243F-54E3-438B-94C8-DF02053E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Guides / Sensors / Steeringが一周した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DAF159-A9A8-4D31-A573-E5482669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1000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今日の流れの振り返り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2C3095-AC8E-42C9-AFCE-E991765B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Guides / Sensors / Steeringが一周した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DC57AA-C980-43E0-901C-7E70E2EE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266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8C5F25-76F2-4490-A4CD-2C6DC56A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F3F434-AA2C-4D06-BD5D-F5926428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33675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ハーネスなしで矛盾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1A1C18-140B-489F-B339-117CA066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71750"/>
            <a:ext cx="266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DCF0C6-A1DE-4C52-B7AA-13E948FC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717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46EC94-1816-4296-91F0-40AE01D0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33675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挙動を固定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40785C-76C0-43CA-8289-3725170A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86250"/>
            <a:ext cx="266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3BCF9A-A8F1-40EC-A840-2DBA8220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862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F348AE-40F1-4B5A-8CE4-8CECEBFC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448175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構造を止める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3205A4-924F-4554-A3F4-10BC6456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0"/>
            <a:ext cx="266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1FD3B9-1B0D-4B8C-A619-509208F4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D28F87-5102-49CF-9A53-574CE49D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48175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赤から緑へ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EF4AC8-38DD-4114-A6A6-9ADACB9A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429000"/>
            <a:ext cx="266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4467AD-52D5-42EB-947A-F43DEBD2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4290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27E8D3-3A07-465D-8655-08D78988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590925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判断を記録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43A0D8-9CD1-4A92-922E-40E7BE64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55967905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388906-FF72-4E7B-996A-05695C01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1CD61B-FAF4-491B-A078-52167989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86C0E2-7C99-42F2-8C38-D39B03CB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212267-0353-464F-90EE-57A916B6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FIRST STEP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F86441-E5FC-4F11-9886-A507FBA9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1000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まず明日からできること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C6CE39-BF54-4521-ABA4-18E752E6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小さく始める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3A30A1-F4EF-4531-80DB-EC4FEDF1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EA704D-A080-43F6-8D16-715044B8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F6DCD6-3685-4421-9ECE-8B0F3EEF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7486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代表的な入出力を3つメモする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69E2FF-ECC0-40C5-A1F0-7EE3CFAC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97557D-1B9B-44A6-A305-CE40D826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844880-516B-4E93-AE1E-690EE44E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57550"/>
            <a:ext cx="7486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AIに既存挙動テストを作らせる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0EB467-766D-47CE-8FD1-B26743E5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2050DB-6E52-418A-AABC-C2961C02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CC8782-2925-43CE-9EC6-A39DF9B3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7486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判断理由をworklogへ1行残す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2811CA-0818-4A07-9882-ABDAB5E0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2021607800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4762DF-6DF5-4977-9942-2789FBB6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9844A3-122C-49A4-8215-8AD10CBC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35C2D0-AA99-46BA-8830-FF8FCF1C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24C5C1-B8A5-47C3-98F9-47E2A9D4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62804-028E-4ECB-A719-1A5260F8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1000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まとめ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7445FD-E1B1-4CEB-BA7C-09B8C2E4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AIに安全に任せられる状態を作る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428191-6BF3-4F76-8EC7-F0B04253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296B31-1A57-4C87-AD47-469F5A8ED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ADCBF7-A0B4-446D-908E-165419B8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7486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AIに任せるのではない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83A8DC-58DE-4A53-9AFA-C0F8ADDB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F05392-ACAF-43A6-A1AE-813EE741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71CF25-D533-42F3-85EA-884F1D01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57550"/>
            <a:ext cx="7486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AIに安全に任せられる状態を作る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14658D-77CF-46FA-8EBC-ECBB7EB6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433306184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19CEAA-9734-489A-9C18-5C2E9F91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2CD1FF-4C4D-4B97-B62E-36B6E8B9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97C6D2-9B3B-4B35-B66F-9C64BF3F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4B9B41-6E14-45D0-947A-1E712553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Q&amp;A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7B9ADE-174A-4831-ADC9-20861DA1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1000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質疑応答・アンケート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2264B4-72CB-4345-AACA-D0311DE3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現場に持ち帰る論点を回収する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B0A853-96BC-4AAE-8CD9-D5CD35D4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DE5038-C3A0-45AD-B196-A15E5210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78FF49-422B-4ABB-8BD5-4351B0ED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7486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理解度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EB5A6B-F59B-438F-A404-FD558315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DE1FCB-5DB4-48F3-BD46-0E205508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081635-806A-4230-A613-9634C996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57550"/>
            <a:ext cx="7486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現場への適用可能性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8A63D2-C3DB-4E70-80BD-CEB9EDBC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FF0514-6D03-4EED-81B8-1A1017639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F57852-6237-4254-B13E-93F4B64F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7486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深掘りしたいテーマ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6C3380-7A35-4214-B012-62E3AECE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1635043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2026-06-12T09:12:37.9680000Z</dcterms:created>
  <dcterms:modified xsi:type="dcterms:W3CDTF">2026-06-12T09:12:37.9680000Z</dcterms:modified>
</coreProperties>
</file>