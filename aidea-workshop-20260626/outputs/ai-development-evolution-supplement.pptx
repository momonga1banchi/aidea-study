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d053a8f6644a04" /><Relationship Type="http://schemas.openxmlformats.org/officeDocument/2006/relationships/extended-properties" Target="/docProps/app.xml" Id="R3b9ba1c31c2943d8" /><Relationship Type="http://schemas.openxmlformats.org/officeDocument/2006/relationships/officeDocument" Target="/ppt/presentation.xml" Id="Re4c232efb3354f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aa3c8b9acf49bc"/>
  </p:sldMasterIdLst>
  <p:notesMasterIdLst>
    <p:notesMasterId xmlns:r="http://schemas.openxmlformats.org/officeDocument/2006/relationships" r:id="Rdf566be49dc949bc"/>
  </p:notesMasterIdLst>
  <p:sldIdLst>
    <p:sldId xmlns:r="http://schemas.openxmlformats.org/officeDocument/2006/relationships" id="256" r:id="R3210d000c92d47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4e9561e8fb4a4d" /><Relationship Type="http://schemas.openxmlformats.org/officeDocument/2006/relationships/slideMaster" Target="/ppt/slideMasters/slideMaster1.xml" Id="Rbcaa3c8b9acf49bc" /><Relationship Type="http://schemas.openxmlformats.org/officeDocument/2006/relationships/notesMaster" Target="/ppt/notesMasters/notesMaster1.xml" Id="Rdf566be49dc949bc" /><Relationship Type="http://schemas.openxmlformats.org/officeDocument/2006/relationships/presProps" Target="/ppt/presProps.xml" Id="Re01fb5e920fd4bac" /><Relationship Type="http://schemas.openxmlformats.org/officeDocument/2006/relationships/tableStyles" Target="/ppt/tableStyles.xml" Id="R56676f4c7c7a4aa2" /><Relationship Type="http://schemas.openxmlformats.org/officeDocument/2006/relationships/slide" Target="/ppt/slides/slide1.xml" Id="R3210d000c92d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c68f864c35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8cc28690b04ab7" /><Relationship Type="http://schemas.openxmlformats.org/officeDocument/2006/relationships/notesMaster" Target="/ppt/notesMasters/notesMaster1.xml" Id="R556f8b584f0d4d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3cb6b030744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d159d2ea3f4e2f" /><Relationship Type="http://schemas.openxmlformats.org/officeDocument/2006/relationships/slideLayout" Target="/ppt/slideLayouts/slideLayout1.xml" Id="Rc09e9016467c4a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9e9016467c4a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ceea91d614c22" /><Relationship Type="http://schemas.openxmlformats.org/officeDocument/2006/relationships/notesSlide" Target="/ppt/notesSlides/notesSlide1.xml" Id="Ra831b97996684d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E7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626D08-6C5B-4902-8C00-FD45B80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DFFB7-1FB4-46CF-A6C6-AF3BB83A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8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BA380-5D5E-413D-8006-6B302799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824A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33824A"/>
                </a:solidFill>
                <a:latin typeface="Yu Gothic"/>
                <a:ea typeface="Yu Gothic"/>
                <a:cs typeface="Yu Gothic"/>
              </a:rPr>
              <a:t>SUPPLEMENT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03B0D-8893-436E-BB87-C5562A95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452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452"/>
                </a:solidFill>
                <a:latin typeface="Yu Gothic"/>
                <a:ea typeface="Yu Gothic"/>
                <a:cs typeface="Yu Gothic"/>
              </a:rPr>
              <a:t>AI開発の進化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A28FC-BEFD-4CB5-BAB4-69768FAC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953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厳密な年代順ではなく、AIに任せる範囲が広がるにつれて設計対象が広がる、という実務上の整理。</a:t>
            </a:r>
          </a:p>
        </p:txBody>
      </p:sp>
      <p:sp>
        <p:nvSpPr>
          <p:cNvPr id="6" name="stage-prompt">
            <a:extLst xmlns:a="http://schemas.openxmlformats.org/drawingml/2006/main">
              <a:ext uri="{FF2B5EF4-FFF2-40B4-BE49-F238E27FC236}">
                <a16:creationId xmlns:a16="http://schemas.microsoft.com/office/drawing/2014/main" id="{B72AA7A0-6932-4A97-AA70-3033B443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24574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C85B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F6A96-4EAC-4CA5-8E25-52277BEA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F273B-E129-4D98-B58C-F75B68D5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1A"/>
          </a:solidFill>
          <a:ln xmlns:a="http://schemas.openxmlformats.org/drawingml/2006/main" w="9525">
            <a:solidFill>
              <a:srgbClr val="C85B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61176-B0FF-4D5E-B2CD-351710E5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9C9C9-330E-41B8-BA07-6A96D59A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5B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C85B1A"/>
                </a:solidFill>
                <a:latin typeface="Yu Gothic"/>
                <a:ea typeface="Yu Gothic"/>
                <a:cs typeface="Yu Gothic"/>
              </a:rPr>
              <a:t>Prompt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5358D-D185-45A6-9974-996DA683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45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452"/>
                </a:solidFill>
                <a:latin typeface="Yu Gothic"/>
                <a:ea typeface="Yu Gothic"/>
                <a:cs typeface="Yu Gothic"/>
              </a:rPr>
              <a:t>1回の依頼をうまく書く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D44EC-8588-4B7B-91B4-81CCF708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指示 / 制約 / 例 / 出力形式</a:t>
            </a:r>
          </a:p>
          <a:p xmlns:a="http://schemas.openxmlformats.org/drawingml/2006/main">
            <a:pPr algn="l">
              <a:def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「どう頼むか」を設計する</a:t>
            </a:r>
          </a:p>
        </p:txBody>
      </p:sp>
      <p:sp>
        <p:nvSpPr>
          <p:cNvPr id="13" name="stage-context">
            <a:extLst xmlns:a="http://schemas.openxmlformats.org/drawingml/2006/main">
              <a:ext uri="{FF2B5EF4-FFF2-40B4-BE49-F238E27FC236}">
                <a16:creationId xmlns:a16="http://schemas.microsoft.com/office/drawing/2014/main" id="{10FF6507-4C6A-407D-860A-5D6E4150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4574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1A4F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6C027-D9D4-4CBD-861D-240A9020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1FE9A-C15F-4B42-8FB5-31E538F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81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F8F"/>
          </a:solidFill>
          <a:ln xmlns:a="http://schemas.openxmlformats.org/drawingml/2006/main" w="9525">
            <a:solidFill>
              <a:srgbClr val="1A4F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B5FA9-1FC6-4883-B3A6-B20BE713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288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ECCBB-92E7-4168-BAB0-C3B2B9C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4F8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A4F8F"/>
                </a:solidFill>
                <a:latin typeface="Yu Gothic"/>
                <a:ea typeface="Yu Gothic"/>
                <a:cs typeface="Yu Gothic"/>
              </a:rPr>
              <a:t>Context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96129-5692-4592-B51C-9CEAFA7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45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452"/>
                </a:solidFill>
                <a:latin typeface="Yu Gothic"/>
                <a:ea typeface="Yu Gothic"/>
                <a:cs typeface="Yu Gothic"/>
              </a:rPr>
              <a:t>判断材料を揃える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2859A-9B00-4A5C-BD3C-65060A7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AGENTS.md / CLAUDE.md / docs</a:t>
            </a:r>
          </a:p>
          <a:p xmlns:a="http://schemas.openxmlformats.org/drawingml/2006/main">
            <a:pPr algn="l">
              <a:def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API仕様 / 既存コード / 履歴</a:t>
            </a:r>
          </a:p>
        </p:txBody>
      </p:sp>
      <p:sp>
        <p:nvSpPr>
          <p:cNvPr id="20" name="stage-harness">
            <a:extLst xmlns:a="http://schemas.openxmlformats.org/drawingml/2006/main">
              <a:ext uri="{FF2B5EF4-FFF2-40B4-BE49-F238E27FC236}">
                <a16:creationId xmlns:a16="http://schemas.microsoft.com/office/drawing/2014/main" id="{C7552905-25D7-4589-AE8B-3033C60B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4574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3382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C6C98-0089-49E6-AC23-4F24A510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8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E2FB1-A6C5-409D-BA23-9E88BE1C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824A"/>
          </a:solidFill>
          <a:ln xmlns:a="http://schemas.openxmlformats.org/drawingml/2006/main" w="9525">
            <a:solidFill>
              <a:srgbClr val="3382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8A288-CA5D-4C9D-8F43-8867F5DC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288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02D65-9494-42A4-91FB-05182075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82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3824A"/>
                </a:solidFill>
                <a:latin typeface="Yu Gothic"/>
                <a:ea typeface="Yu Gothic"/>
                <a:cs typeface="Yu Gothic"/>
              </a:rPr>
              <a:t>Harness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542391-B7FC-4644-981A-3ECD0B8A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45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452"/>
                </a:solidFill>
                <a:latin typeface="Yu Gothic"/>
                <a:ea typeface="Yu Gothic"/>
                <a:cs typeface="Yu Gothic"/>
              </a:rPr>
              <a:t>安全に使う制御を作る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E2C01-8121-4576-ADB2-CD773158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Guides / Sensors / Steering</a:t>
            </a:r>
          </a:p>
          <a:p xmlns:a="http://schemas.openxmlformats.org/drawingml/2006/main">
            <a:pPr algn="l">
              <a:def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テスト / lint / ADR / 構造チェック</a:t>
            </a:r>
          </a:p>
        </p:txBody>
      </p:sp>
      <p:sp>
        <p:nvSpPr>
          <p:cNvPr id="27" name="stage-loop">
            <a:extLst xmlns:a="http://schemas.openxmlformats.org/drawingml/2006/main">
              <a:ext uri="{FF2B5EF4-FFF2-40B4-BE49-F238E27FC236}">
                <a16:creationId xmlns:a16="http://schemas.microsoft.com/office/drawing/2014/main" id="{ACFCB9E7-947D-4F4D-9DFA-098A2519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24574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1724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1AA27-4A2A-48F9-B1EF-8E9C5AC2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6F6AE7-B0C9-447A-B24A-C01949B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452"/>
          </a:solidFill>
          <a:ln xmlns:a="http://schemas.openxmlformats.org/drawingml/2006/main" w="9525">
            <a:solidFill>
              <a:srgbClr val="1724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19001-2FFB-4B09-BE61-CECC4C8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288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CA751F-CDD4-42B8-9DD4-DF8F3005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62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5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2452"/>
                </a:solidFill>
                <a:latin typeface="Yu Gothic"/>
                <a:ea typeface="Yu Gothic"/>
                <a:cs typeface="Yu Gothic"/>
              </a:rPr>
              <a:t>Loop Engineering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B22FFA-1C1C-4C62-9470-3374BD22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45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452"/>
                </a:solidFill>
                <a:latin typeface="Yu Gothic"/>
                <a:ea typeface="Yu Gothic"/>
                <a:cs typeface="Yu Gothic"/>
              </a:rPr>
              <a:t>反復を運用する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18B080-736C-499C-8341-D6657650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38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CR -&gt; 実装 -&gt; sensor -&gt; 修正</a:t>
            </a:r>
          </a:p>
          <a:p xmlns:a="http://schemas.openxmlformats.org/drawingml/2006/main">
            <a:pPr algn="l">
              <a:def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completion / escalationで止める</a:t>
            </a:r>
          </a:p>
        </p:txBody>
      </p:sp>
      <p:cxnSp>
        <p:nvCxnSpPr>
          <p:cNvPr id="78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48000" y="2952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7A"/>
            </a:solidFill>
            <a:prstDash val="solid"/>
            <a:tailEnd type="arrow" w="med" len="med"/>
          </a:ln>
        </p:spPr>
      </p:cxnSp>
      <p:cxnSp>
        <p:nvCxnSpPr>
          <p:cNvPr id="79" name=""/>
          <p:cNvCxnSpPr>
            <a:stCxn xmlns:a="http://schemas.openxmlformats.org/drawingml/2006/main" id="13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867400" y="2952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7A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20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8686800" y="2952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7A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1E43DC-DFDC-474B-949A-36EEFDC4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A"/>
          </a:solidFill>
          <a:ln xmlns:a="http://schemas.openxmlformats.org/drawingml/2006/main" w="9525">
            <a:solidFill>
              <a:srgbClr val="C8D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CB131B-CB32-4D4A-96D6-C2E4BDB7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52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452"/>
                </a:solidFill>
                <a:latin typeface="Yu Gothic"/>
                <a:ea typeface="Yu Gothic"/>
                <a:cs typeface="Yu Gothic"/>
              </a:rPr>
              <a:t>この4つは置き換えではなく積み上げ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854513-2E5C-426A-BBD8-80CA8EFE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4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204A"/>
                </a:solidFill>
                <a:latin typeface="Yu Gothic"/>
                <a:ea typeface="Yu Gothic"/>
                <a:cs typeface="Yu Gothic"/>
              </a:rPr>
              <a:t>プロンプトを上手く書くだけでは足りない。何を読ませ、何で検知し、どこまで反復させるかまで設計対象になる。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DE7ACD-8BC6-4EED-BDBC-44F0D520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14850"/>
            <a:ext cx="52197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E5"/>
          </a:solidFill>
          <a:ln xmlns:a="http://schemas.openxmlformats.org/drawingml/2006/main" w="9525">
            <a:solidFill>
              <a:srgbClr val="E7CBB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433EB0-DADB-40C7-9BB6-010932BA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5B1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C85B1A"/>
                </a:solidFill>
                <a:latin typeface="Yu Gothic"/>
                <a:ea typeface="Yu Gothic"/>
                <a:cs typeface="Yu Gothic"/>
              </a:rPr>
              <a:t>注意: Loop Engineering は</a:t>
            </a:r>
          </a:p>
          <a:p xmlns:a="http://schemas.openxmlformats.org/drawingml/2006/main">
            <a:pPr algn="l">
              <a:defRPr sz="1650" b="1">
                <a:solidFill>
                  <a:srgbClr val="C85B1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C85B1A"/>
                </a:solidFill>
                <a:latin typeface="Yu Gothic"/>
                <a:ea typeface="Yu Gothic"/>
                <a:cs typeface="Yu Gothic"/>
              </a:rPr>
              <a:t>まだ標準用語ではない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CAD008-CCD4-4411-B100-EA8F22FC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578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4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4204A"/>
                </a:solidFill>
                <a:latin typeface="Yu Gothic"/>
                <a:ea typeface="Yu Gothic"/>
                <a:cs typeface="Yu Gothic"/>
              </a:rPr>
              <a:t>ただし、AIエージェントに「完了または停止まで回す」設計は実務上重要。今回のDemo 5はその小さい例。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FF42EA-776C-4BEE-8140-FD235593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補足: 本編では Prompt -&gt; Context -&gt; Harness -&gt; Loop の順に、AIに渡す責務と人間の確認点が広がる、と説明する。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A414F2-FEAB-4270-8380-4D849A20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2607A"/>
                </a:solidFill>
                <a:latin typeface="Yu Gothic"/>
                <a:ea typeface="Yu Gothic"/>
                <a:cs typeface="Yu Gothic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04255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2026-06-25T06:15:36.0560000Z</dcterms:created>
  <dcterms:modified xsi:type="dcterms:W3CDTF">2026-06-25T06:15:36.0560000Z</dcterms:modified>
</coreProperties>
</file>